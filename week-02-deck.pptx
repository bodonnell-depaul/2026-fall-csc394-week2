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notesMasterIdLst>
    <p:notesMasterId r:id="rId10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WHAT to build to HOW to build it together. The MCP module extends
last week's AI-assisted development discussion: how can an assistant use the
real task board and project documentation rather than guess? The optional
technical appendix is a follow-along lab and reference, not an additional
required project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goals: explain MCP without jargon; trace one request from a user
through an AI application to a server and back; distinguish tools, resources,
and prompts; decide when MCP is preferable to direct API integration; and
identify the permissions and failure modes a team must own.
No prior MCP knowledge is assumed. All TaskBoard data and operations in these
examples are fictional. Adding MCP to your course project is optional:
understanding an integration does not make it part of your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may know what a sprint is from training, but training does not grant
access to your team's current database. Copying a task into chat is one way to
supply context; an integration can retrieve it on demand. This distinction is
the motivation for MCP, not a claim that every unconnected assistant has no
tools. Many products already have built-in tools or custom integrations.
Ask students what evidence they would need to answer the question themselves:
current task status, ownership, dependencies, and perhaps the sprint goal.
The same evidence is needed by an assistant. If task 17 has no explanation for
its blocked status, the assistant should not invent a cause or blame a teammate.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processes the information supplied to it; it does not independently
open network connections simply because its output mentions an API. The
surrounding application can execute an allowed operation and supply the result
as new context. Context is the working material for a response, not necessarily
a permanent memory or a change to model weights.
API stands for application programming interface. In this lecture, a direct
API example is an HTTP request to an application's existing backend. MCP is
also an interface/protocol: the comparison is between a standard AI integration
interface and a bespoke integration with an application's API, not "MCP versus
all possible APIs." GET is an HTTP method conventionally used to retrieve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was introduced by Anthropic in 2024 and is now an open, vendor-neutral
protocol. Its value is a common interface: applications can discover what a
server exposes and exchange structured requests and results. A connector
analogy is useful only up to a point. Matching the connector does not guarantee
that every optional feature works, that access is authorized, or that the
connected software is trustworthy.
MCP is not an LLM, a chatbot, a database, an agent framework, or an automatic
security system. A server may be a short local program or a remotely hosted
service. It need not use an LLM at all. Standardizing the interface reduces
repeated integration plumbing; it does not eliminate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user-facing product from the model it runs. A Copilot experience
can offer different models, and Claude Code is an application using Claude
models. Codex refers to OpenAI's coding products and models; Codex CLI is a host.
An underlying model's name alone does not tell you whether an application
provides MCP, which transports it supports, or what policy is configured.
The host creates a client component for each connected server. That component
encodes requests and handles responses. The server implements the offered
operations. A backend API or database can sit behind it. A hosted MCP service
may serve many clients; "one client per server connection" does not mean one
server process can serve only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two different interfaces. The host sends a question, selected context,
and available tool descriptions to a model using the model's own inference
interface. If the model proposes search_tasks, the host maps that proposal to
an MCP request using its TaskBoard client. The TaskBoard server performs its
own code, which can call a REST API, query a database, or read a fixture.
The result returns through MCP to the host. The host may filter or truncate it,
then include it in another model request. The final natural-language summary
comes from the model, not from MCP itself. A local model can replace the remote
model-provider interface without changing the role of the MCP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illustrative operations, not claims about a particular vendor's
exact tool names. Each server has its own interface, credentials, and failure
modes. The host normally coordinates this combination; MCP does not make every
server automatically talk to all other servers.
The quoted answer is justified only when those actual returned records refer
to the same task and build. If a build is old, failed for another reason, or
belongs to another project, the host/model should not combine it as proof.
Passing one server's content to another is also a separate data-sharing
decision. A docs reader should not silently gain the build service's credentials
or access to the complete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labels are the MCP interaction model, not security guarantees.
A host may expose a resource picker, use automatic context selection, or
provide a bridge that lets a model request a resource. It might show prompts
as slash commands. A tool call can still require a user approval or be denied
by policy. Avoid teaching "model controlled" as "the model has unrestricted
authority."
The same underlying task data can be reached through different primitives:
a search tool accepts a query, whereas a resource provides context at a known
identifier. Choose based on interaction semantics, not the database technology.
The next slides unpack each concept rather than assuming this table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well-designed description might say, "Find tasks by their exact workflow
status and return IDs, titles, and statuses." That is much easier to use
reliably than a tool named do_thing with an opaque string parameter.
Tools are discovered using tools/list and invoked using tools/call. The model
can generate a candidate name and arguments, but a host must dispatch the
request and the server must validate and authorize it. A tool implementation
can be deterministic even though the model's choice of tool is probabilistic.
A developer can also invoke MCP tools without any LLM.
For our first lab, only expose a read tool. Later, a create_task tool would need
appropriate write authorization, clear confirmation rules, validation, and a
way to avoid duplicate writes on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a structured data format made of objects, arrays, strings, numbers,
booleans, and null. JSON Schema describes which of those structures are valid.
Here the input must be an object with a status string from a fixed list.
required disallows omitting status; additionalProperties disallows extra keys.
A schema helps the host present the tool to a model and helps implementations
validate it. It does not authorize a project, prevent malicious content, or
guarantee semantic correctness. A production search tool might also take a
project ID, which must be checked against the authenticated user's access.
Never trust a model-supplied project ID simply because it is a valid string.
This descriptor is a protocol-level teaching example, not a full JSON-RPC
message. The SDK in the appendix generates a similar schema from Python types;
its automatically generated title/description metadata can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URI is a uniform resource identifier. A custom URI such as taskboard:// is
not necessarily a web URL that a browser can fetch. The MCP client sends the
identifier to the server, and the server resolves it. MIME types tell software
how to interpret returned content: text/plain for plain text, application/json
for JSON, and so on.
Use resources/templates/list to discover templates. The host chooses whether
to fetch and include a resource, perhaps after a student selects it in an
"Add Context" menu. A resource can be generated dynamically from current data;
"readable context" does not mean a permanently static file.
Refreshing a resource matters. If a cached sprint resource says sprint 3 while
the team is on sprint 4, the model can faithfully summarize outdated context.
Resource access still needs authorization, and read-only data may be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chat prompt is any instruction a user types. An MCP prompt is a
server-provided, named, parameterized template that a compatible host can
discover. That distinction lets a team standardize a useful workflow while
still inspecting the resulting instructions.
The user normally invokes a template through a host UI such as a slash command
or menu. The host retrieves its messages and decides how to use them. The LLM
may then propose tools; the host must still enforce each operation's policy.
An instruction saying "do not modify tasks" is useful guidance, but the stronger
control for a read-only workflow is to withhold write capabilities or credentials.
Prompt arguments in the protocol are string values. The appendix accepts a
sprint string and returns a simple text template; templates can also contain
multiple structured messages or references to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application workflow around MCP, not six steps mandated by the
protocol itself. Hosts differ in tool selection, approvals, context filtering,
and retry limits. MCP standardizes the client/server portion.
Allowing a call means it is covered by the user's consent and applicable
policy, possibly through a previously approved rule. It does not mean the
model approved its own action. The protocol's consent principles do not
require an identical confirmation dialog for every call in every host.
There may be more than one model request: one to choose a tool and another to
reason over its result. The first answer can be a structured request rather
than text shown to the user. The host executes code; the model's output alone
does not execute it. If the operation is denied, the assistant should explain
that it could not retrieve the board, not present an imagined answer.
Notice the evidence boundary in the example. A blocked status supports saying
the task is blocked. It does not support saying a particular person caused the
blocker, assigning an exact completion date, or claiming that all sprint tasks
have been checked when only one page of results was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point from each clause in the good answer to the exact field that
supports it. This is a small example of grounding: using actual retrieved
information rather than filling missing details with plausible text.
The JSON shown is domain data, not an entire MCP response envelope. The
technical appendix shows how the data can be wrapped in a protocol result.
That distinction prevents students from assuming any JSON API is already MCP.
For production reporting, include a source identifier, query filters, a fetch
time, and whether the result is complete. If the API paginates, a single page
of tasks cannot establish that no other blockers exist. If the tool fails,
there is no successful evidence to summarize. Correct retrieval improves
grounding but does not guarantee a correct model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Versioning is important because a protocol can evolve while products and SDKs
update at different speeds. As of the lecture's reference date, the official
latest specification is 2026-07-28. It uses stateless requests and a discovery
method instead of requiring the older connection initialization lifecycle.
Stateless means each request carries the protocol context needed to process
it, not that the application's database has no state.
After finding a compatible version and advertised features, the client can
list tools, resources, or prompts. A server that offers only tools is still
useful. The host may hide or disable some advertised tools. Never equate a
catalog entry with authorization.
Servers must implement server/discover, but clients may call it rather than
being required to perform a handshake before every use. Every modern request
must carry io.modelcontextprotocol/protocolVersion and
io.modelcontextprotocol/clientCapabilities inside params._meta. Clients should
also send io.modelcontextprotocol/clientInfo. The wire appendix shows the
complete field names; SDKs normally populate them.
The appendix uses the current mcp==2.2.0 SDK and MCPServer. Its dual-era server
can also serve older clients, so check which revision your host actually used.
The small non-LLM client prints client.protocol_version. An SDK release number,
a model name, and an MCP protocol date are different version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is the delivery mechanism, distinct from the message's meaning.
stdin is a process's input stream; stdout is its output stream; stderr is a
separate diagnostics stream. A local stdio program needs no HTTP port. Printing
"Starting server!" to stdout can break protocol parsing because stdout is the
message channel.
Streamable HTTP provides an HTTP endpoint and can carry JSON responses or
Server-Sent Events, a way to stream server updates over HTTP. Older examples
using a separate SSE transport should be labelled legacy; SSE itself has not
been universally removed. These details vary by protocol revision.
The .example hostname is illustrative and is not a working classroom service.
The appendix's local server requires no account or network data source.
A local server is not automatically sandboxed, and a remote service does not
automatically support every client's authentication method.
For a local HTTP server, bind to the loopback address 127.0.0.1 rather than all
network interfaces, and validate the Origin header as the transport requires.
These are protections against unwanted access, including DNS rebinding; they
do not replace authentication or a sandbox. Modern stdio messages are each
serialized on a single line. The 2026-07-28 HTTP transport no longer uses the
legacy MCP session-ID lifecycle or a GET notification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API integration is not an outdated or inferior approach. For a normal
user interface, a fixed request can be simpler, faster, and more predictable
than a conversational workflow. It also offers explicit control over data
handling, caching, retries, and presentation.
If an AI application calls this endpoint directly, its developer typically
supplies the model-facing tool definition and writes dispatch code that maps
model arguments to the API. The developer is still responsible for permission
checks and error handling. Other AI hosts may need separate adapter code.
An OpenAPI description can document HTTP endpoints and help generate clients
or tools. That is useful, but exposing an OpenAPI document does not by itself
implement MCP's methods, capabilities, transport behavior, or host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does not have to wrap a web API: it could call a library, issue a
database query, or use an in-memory fixture as our lab does. If a web API
already contains the correct authorization and business logic, reusing it is
often safer than bypassing it with a new direct database connection.
An adapter can expose a meaningful task-oriented operation rather than every
low-level API endpoint. For example, get_sprint_health could combine several
read operations and return a bounded summary. That can reduce repeated model
round trips, but requires careful error reporting and source attribution.
The server's service credentials must not accidentally grant broader access
than the requesting user should have. MCP does not solve that business-level
identity mapping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argument for MCP is interoperability at the AI application's
tool/context boundary. It can replace a separate custom integration for every
combination of host and backend with a common client protocol and reusable
servers. Configuration, feature differences, authorization, and maintenance
still exist; do not promise "write once, works everywhere."
MCP is not a replacement for REST, GraphQL, SQL, HTTP, or a provider's model
API. Those interfaces can coexist below or beside it. MCP also does not force
the use of an LLM: a test client or a deterministic application can discover
and call a tool. Conversely, an LLM can use a bespoke tool-calling integration
without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Tool/function calling is usually a model-provider interface feature. The host
translates MCP tool descriptions into the format accepted by its selected
model, then translates a proposed invocation back into an MCP request.
Native tool calling can exist without MCP, and an MCP server need not itself
call any model.
RAG is an application pattern. It might use keyword search, a database query,
or embeddings, which represent content numerically for similarity search.
A vector database is one possible retrieval component, not an MCP requirement.
A search tool exposed via MCP can be part of a RAG workflow; an MCP tool that
creates a task is not retrieval simply because it uses MCP.
For a beginner's mental model: tool calling is how a model expresses a request,
MCP is how applications exchange capabilities and results, and RAG is one way
an application grounds an answer in retrieved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spike is a short, time-boxed experiment to reduce uncertainty. For this
course, a useful spike might establish that one client can list and call a
TaskBoard search tool, record the latency, and document the permissions.
It is not a commitment to implement a full AI project manager.
Other reasons not to use MCP include a very tight latency budget, a host that
does not support the required capability, or an inability to maintain the
server securely. A deterministic backend job can also remain ordinary code
rather than becoming an agent.
Make the decision with the same MoSCoW and risk-register discipline used for
other features. A new integration is worthwhile only if it serves the users'
problem better than the simpler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illustrate modern application use; the exact tool names and
products depend on the implementation. In each case, MCP can supply a
standardized interface while the surrounding application decides how to use
the result.
For coding, an issue reader and a build-status reader can support an answer
without permission to push code. For support, access must be filtered by the
authenticated customer's identity. For research, a source citation does not
make the source correct or trusted as an instruction. For operations, reading
CPU usage is a different authority level from restarting production services.
This is a design exercise in separating capabilities, keeping responses small,
and preserving a human decision where the consequences warrant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instructions are grounded in the official documentation listed in the
appendix and were reviewed on 2026-09-22. They are not a universal feature
matrix. MCP support in one product or mode does not imply identical support in
its desktop, web, cloud-agent, CLI, and IDE variants.
For example, Copilot CLI has its own MCP configuration format and does not
simply read VS Code's servers object. Claude Code and Codex also have different
configuration locations and approval experiences. Organization policies can
limit what is available. A compatible tool should be portable, but host-specific
resources or prompt UI may require separate testing.
The next three slides use the same local classroom server. Complete the
optional appendix setup first. These configurations illustrate integration;
they do not install or authorize any real external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Windows paths are a concrete lab example, not paths that already exist on
every student's computer. Replace them if using a different lab folder. JSON
uses doubled backslashes to represent Windows path separators. On macOS/Linux,
the interpreter would usually be the lab environment's .venv/bin/python.
VS Code's workspace MCP file uses the top-level servers key. A compatible VS
Code version can also expose resources through Add Context or MCP: Browse
Resources, and prompts through its MCP prompt interface. Tools are the baseline
exercise; do not assume every host exposes every primitive in the same way.
For Copilot CLI instead, use its /mcp add flow or copilot mcp add command and
its documented configuration format. VS Code's file is not the Copilot CLI
configuration file. Server startup trust and individual tool-call approvals
are separate decisions, and policy/launch paths can affect the prompts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backtick at the end of a PowerShell line continues the same command; do not
add spaces after it. The Python interpreter is the one in the lab's virtual
environment, so its installed MCP dependency is available even when Claude
Code starts the server from another working directory.
This registration normally uses Claude Code's local scope unless another
scope is specified. It is not a Claude Desktop configuration example. A remote
server instead uses the documented HTTP transport and URL, plus its required
authentication. Never paste an API key into the model's conversation just
because a server needs credentials.
Adding configuration is not evidence of a working connection. Check connection
status and inspect a real search result. Host policies can request approval
or restrict a tool; the server must still enforce its own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supports local stdio servers and remote Streamable HTTP servers, with
authentication options depending on the server. Its usual user configuration
is under the user's .codex directory; trusted project configuration can also
be used. Configuration is TOML, not the VS Code JSON servers wrapper.
The concrete example keeps the backend, tool name, and arguments identical to
the other two host examples. The host translates them to its selected model's
tool interface and applies its own policies. This is the central portability
benefit, without claiming that prompt/resource menus or model output wording
will be identical.
If a tool is hidden or disabled, the model cannot use it merely because it
exists on the server. Start with search_tasks, confirm that task 17 is returned,
and treat any unsupported optional feature as a host compatibility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OAuth is an authorization framework that lets an application obtain scoped
access without asking the user to paste their password into chat. A sign-in
flow can establish the user's identity; scopes and server-side checks determine
the access actually granted. A token is a credential representing that access,
not content to put in an LLM prompt.
The MCP authorization specification applies to HTTP-based transports when
authorization is used. Local stdio processes typically obtain credentials from
their launch environment instead; OAuth is not a mandatory handshake for every
local MCP server. The classroom fixture needs no credentials.
There can be two authorization boundaries: client to MCP server, and MCP server
to an underlying API. A production adapter must validate the intended token
audience and user access; it must not simply pass an incoming token through to
an unrelated downstream service. Keep secrets in appropriate secret storage
and keep access narrow even when the human approves an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is an attempt to make content encountered during a task act
as an instruction that redirects the assistant. It can appear in an issue,
a document, a tool result, or an untrusted server's metadata. The natural
language content can be perfectly valid JSON and still be malicious.
No instruction such as "ignore malicious content" is a complete security
solution. Reduce what the system is capable of doing: allow only necessary
tools, separate read and write authority, restrict destinations, and validate
actions in ordinary application code. User approval is one layer, not a
guarantee that a person will catch every subtle problem.
For our read-only lab there is no publish operation. That is a stronger
boundary than exposing publishing and hoping the model never uses it.
The server itself must still be trusted not to perform hidden side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describes where a process runs, not what it is allowed to do. An OS
sandbox, container restrictions, file permissions, and network policy are
separate mechanisms; merely registering an MCP server does not add them.
Review package publishers and exact versions before running installation or
launch commands from an unfamiliar repository.
A tool can be read-only in the sense of not modifying backend state while
still leaking secrets or confidential records through its response. Consider
both the MCP service and the model provider's data handling. Do not send real
student records or credentials through a classroom demonstration.
Tool annotations can indicate intended behavior such as read-only or
destructive operations. A hostile or buggy server can mislabel them. Enforce
read-only behavior with real permissions and implementation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itself is not a guarantee of a lower bill or an inherent source of model
charges. Costs come from the implementation: model requests, tool metadata,
returned content, API usage, hosting, and operations. Hosts may load tools
lazily or retrieve only a subset, so do not assume all tool descriptions are
always placed in every model request.
Pagination means returning a bounded page of results plus a way to retrieve
the next page. It avoids returning thousands of tasks but introduces the need
to track completeness. Caching can reduce latency while introducing staleness.
Good tool descriptions and bounded outputs improve usability but cannot
eliminate model mistakes.
For a student team, keeping another service healthy has an opportunity cost:
time not spent shipping the MVP. Put an owner and a measurable benefit on
the integration rather than adding it because it is fashionable.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Idempotent means repeated execution has the same intended effect as one
execution. An idempotency key supports that behavior only when the server or
backend actually stores and enforces it; putting a random request ID into an
MCP message does not automatically deduplicate writes. A transport request ID
matches responses, whereas a business operation key identifies the write.
Read requests can often be retried more safely than writes, but still need
timeouts and rate limits. For writes, inspect operation state or use the
backend's deduplication support. A cancellation request also cannot guarantee
rollback after a side effect has already happened.
An HTTP failure, malformed protocol message, and valid tool execution error
are different failure layers. If authentication fails, the assistant should
say it could not access the board, not "there are no blockers."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central to reliable AI integrations. In the lab, a valid
query for todo returns an empty tasks list because the fixture has only a
blocked task and a done task. The same tool called with status="stuck" fails
its declared input validation and produces a tool error. The SDK may describe
that error in its text content for the model to inspect.
A protocol error is a JSON-RPC response containing error instead of result.
An unknown method has code -32601; malformed JSON has a different code, -32700.
Do not teach every failure as -32602 or assume every error reaches the model
unchanged: the host decides how to display or forward it. HTTP authentication
and transport failures can happen before a tool result exists at all.
The isError flag is about executing a tool, not about whether the model's final
answer is accurate. A perfectly successful search can still be misinterpreted.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is not a shortcut around the engineering disciplines in the first half of
the lecture. Use a small issue such as "As a PM, I can retrieve blocked tasks
through an approved assistant so that I can prepare a status summary."
Acceptance criteria should cover the data contract, not just a nice-looking
answer: a valid blocked query returns fixture task 17; an invalid status
returns an error; unauthorized data is never returned; failures are visible;
no write capability is available in the read-only release.
The QA lead can use a protocol client or Inspector without an LLM to separate
server correctness from model quality. The PM and tech lead can then evaluate
whether a model uses the tool and cites its result responsibly. Those are
different tests with different failure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1. A search_tasks tool, a taskboard://sprints/current resource, and a
sprint_summary template are sufficient for the simple version. The template
can ask the model to draft a follow-up as text in chat.
2. The host dispatches an allowed call through its MCP client; the server runs
the implementation. The model proposes the call but is not the network client.
3. Read-only access to the appropriate project's sprint/tasks is enough.
Posting requires a separately scoped capability and the intended approval.
4. "I could not retrieve the board, so I cannot confirm the current blockers."
If a write may have occurred, say the outcome is uncertain rather than failed.
5. Usually not. A direct backend API is simpler for a fixed UI action unless
there is a concrete cross-host or capability-discovery need.
Ask students to identify which statements in a proposed summary are supported
by returned data, and which are recommendations or unknowns.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motivating question: the assistant can now obtain current task
data through an explicit integration, but still needs correct permissions,
reliable tool behavior, and careful interpretation.
The main lesson is not a vendor command or a protocol version number. It is
the separation of responsibilities: an application manages the conversation
and policy, a model proposes useful next steps, a protocol carries requests,
and ordinary server code performs authorized work.
The appendix comes after the regular course wrap-up so that instructors can
choose whether to run the lab during class or assign it as optional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is for a follow-along demonstration or independent reading.
The core lecture stands on its own. Students do not need a paid model account
to run the small protocol client: it talks to an MCP server without an LLM.
The official Python SDK 2.2.0 uses MCPServer and Client. Older v1 tutorials use
FastMCP and a different client API. Do not combine imports from those release
lines. The pinned release supports both the current protocol and older
initialize-handshake clients. All records in this lab are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environment keeps the lab's Python dependencies separate from other
projects. The explicit interpreter path also avoids relying on activation
when an AI host later starts the server. If C:\mcp-lab is not writable or you
already use that directory for something else, choose a new writable folder
and replace the paths consistently.
The py launcher is the Windows example. On another platform, use your Python
3.10+ interpreter to create a virtual environment and use that environment's
Python executable. Review packages before installing them. A pinned direct
dependency prevents accidentally switching to a different SDK major version;
a production project should also lock transitive dependencies.
The mcp package supplies its own required dependencies. No model-provider
SDK, web framework configuration, database, API token, or public port is
needed for this local fixture. Do not substitute pip install fastmcp: that is
a different package and does not make these v2 imports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MCPServer object collects capabilities that the next decorators register.
Literal tells the SDK that status has three permitted string values, matching
the schema in the main lecture. Python type hints here help the SDK generate
the model-facing contract and validate inputs.
json is part of Python's standard library. The exception and annotation types
come from the pinned official MCP SDK, not from a model-provider SDK.
ResourceNotFoundError will let a missing resource fail explicitly rather than
pretend to return an empty successful task.
Using two records makes the expected behavior easy to inspect. One blocked
task, one done task, and no todo tasks give us a positive query, another valid
query, and a valid empty query without relying on a network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Python decorator is syntax that applies a wrapper or registration operation
to the function below it. Here the SDK registers search_tasks; the model does
not execute arbitrary Python from its own text output.
The function filters a fixed in-memory list and returns a TaskSearchResult.
BaseModel comes from Pydantic, a data-validation library installed with the
SDK. This small model explicitly describes a result with a tasks list, so
the SDK produces both an output schema and structuredContent, plus JSON text
for compatible clients. Returning an untyped dict instead would produce only
text with this SDK release. The SDK's exact schema metadata and JSON whitespace
may differ from our illustrative wire messages.
read_only_hint states that this tool does not intentionally change its data.
open_world_hint=False states that its interaction is limited to a closed
domain, here the fixture. Neither annotation is a security boundary. Real
read-only credentials and code behavior matter more than a hint. Avoid adding
a shell tool or a general database-write tool to this first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decorator registers a fixed URI. The second registers a template:
the SDK extracts task_id from the requested URI and supplies it to the
function. A URI parameter arrives as a string here, so the code compares it
with the string form of each task's integer ID.
json.dumps serializes the data to JSON text. Declaring application/json tells
the client how to interpret that text. The resource is read-only but could
have been computed from a live API in a real implementation.
The explicit missing-task error is important. An absent task is not the same
thing as a successful search with zero results, and a server should not silently
substitute task 17 for a request for task 999. Production code must also check
that the caller is permitted to read a task before returning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supplies a recipe; retrieving it does not itself query tasks,
generate a report, or write anything. The sprint argument is a string, as
required by the protocol's prompt argument mapping.
The template checks scope before reporting. This fixture has only Sprint 3
data. A request for Sprint 4 should produce an explanation of missing data,
not a report relabelled as Sprint 4. The instruction is guidance for the host
and model, not a replacement for access controls.
mcp.run starts the server's stdio loop. If run by hand in a terminal, it may
appear to do nothing: it is waiting for protocol messages from a client.
Normally the selected host starts and manages this process. Send diagnostics
to stderr, never to the stdout channel used for MCP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C:\mcp-lab\.venv\Scripts\python.exe C:\mcp-lab\inspect_taskboard.py.
If using a different lab folder, update the server path in this client too.
The async with block opens the connection and closes the child server when
the block ends. anyio runs the asynchronous client code; it is a dependency
of the SDK. The client automatically supplies the protocol metadata and probes
the server in its default auto mode.
There is no LLM, chat history, or model-provider API call in this example.
That proves that MCP is a software protocol, not a feature that exists only
inside a particular model. Client stdout is ordinary terminal output here;
the prohibition on print concerns the server's stdio protocol channel.
The result should contain tasks with the single record id=17, title="Login
tests", status="blocked". A client explicitly set to mode="legacy" uses the
older initialize handshake with this dual-era server instead; its reported
version is different. Do not infer the negotiated version from the SDK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mixes protocol method names and readable function notation;
the latter is not a full wire packet. SDK client equivalents include
list_tools(), call_tool("search_tasks", {"status": "blocked"}),
read_resource("taskboard://sprints/current"), and
get_prompt("sprint_summary", {"sprint": "3"}).
The official MCP Inspector can start a local server and show the discovered
tools, resources, prompts, requests, and responses. Follow its current setup
documentation and keep its interface local and protected; it is a debugging
tool with access to the server you connect.
Separate two questions: does the server return the right data, and does the
selected assistant use it correctly? The small SDK client answers the first.
A conversation such as "List blocked tasks and cite their IDs" helps assess
the second. No model is needed to verify the protocol/data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RPC means remote procedure call: ask another program to execute a named
operation and return a result. "Remote" need not mean across the internet;
the other program can be a child process on the same machine.
These wire examples are illustrative valid message shapes, not a byte-for-byte
capture of the SDK. The client and server names/versions are sample identity
metadata. The SDK may advertise extra flags or format JSON differently.
An empty clientCapabilities object means the client is not offering optional
client features in this exchange.
Every current request must carry its protocol version and client capabilities
in params._meta; client identity is recommended. The on-wire stdio form is one
JSON line per message, not a series of pretty-printed lines. The SDK handles
that framing. Over HTTP, the transport also requires its specified version
and routing headers; these are stdio examples, not complete HTTP requests.
server/discover must be implemented by a modern server, but the client is not
required to treat it as a mandatory initialization handshake.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matching id=1 associates this response with the discovery request.
resultType="complete" identifies an ordinary completed result. A request that
needs additional input can instead produce an input-required result.
The modern specification requires cache policy fields on discovery, the
catalog listing methods, resource-template listing, and resource reads.
cacheScope="public" is appropriate here only because this fictional discovery
response is safe to share and identical for all callers. Do not mark
personalized task data as publicly shareable just to improve performance.
Caching is not authorization and does not prove the information is fresh.
This illustrative discovery response advertises one version for readability.
The lab's SDK server supports older clients too, and its actual version list
and capability flags can be richer. A supported protocol revision does not
mean every optional capability is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answers "What protocol and feature categories are supported?"
tools/list answers the more specific question "Which tools, with which
contracts, are available?" The host can then decide which of those tools to
expose to the selected model. A catalog can be scoped to the caller's access;
do not assume every user sees an identical list.
A complete illustrative response for this one-tool catalog follows. Its
additionalProperties constraint is intentionally stricter than some SDK
defaults; the SDK-generated schema is the actual contract for the running lab.
For brevity, this descriptor omits the outputSchema that the lab's
TaskSearchResult model publishes.
```json
{
  "jsonrpc": "2.0",
  "id": 2,
  "result": {
    "resultType": "complete",
    "tools": [
      {
        "name": "search_tasks",
        "description": "Find tasks by exact workflow status.",
        "inputSchema": {
          "type": "object",
          "properties": {
            "status": {
              "type": "string",
              "enum": ["todo", "blocked", "done"]
            }
          },
          "required": ["status"],
          "additionalProperties": false
        }
      }
    ],
    "ttlMs": 60000,
    "cacheScope": "public"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method is tools/call, whereas search_tasks is the name of the
domain tool. Confusing those two levels can make raw messages difficult to
read. arguments holds the domain input. _meta holds the current protocol
context, not a secret token to be shown to the model.
The same structured request could be created by our deterministic SDK client,
so no model-specific API format appears here. A host may use entirely different
provider-specific messages to obtain the candidate call from its model.
id=3 is a correlation identifier, not an idempotency key or authorization
credential. It does not tell the server to deduplicate a create_task operation.
For a real backend, schema validity must be followed by business validation
and access checks before reading or writing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content in this example is a JSON serialization of the structured
data, not a second independent source. The specification recommends providing
serialized text alongside structured content for compatibility. A tool may
also declare an outputSchema to describe the shape of structuredContent;
that is an output contract, analogous to inputSchema for arguments. The lab
publishes one through its TaskSearchResult model.
For example, an output schema could require a tasks array with id, title,
and status fields. Consumers should validate a declared output contract, but
valid JSON cannot establish that a retrieved task is current or authorized.
The SDK may include additional server metadata and format the text differently.
isError=false means tool execution succeeded. It does not certify a later
model explanation. This result says task 17 is blocked, but gives no cause,
owner, estimate, or evidence that a private production board was accessed.
The fictional fixture is the only data source in this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older lifecycle, initialization establishes a negotiated protocol
version and capabilities before normal operations. In the modern protocol,
each request carries the relevant version and client capability metadata.
Stateless protocol operation does not mean tasks, documents, or application
databases lose their persistent state.
Legacy revisions include 2024-11-05, 2025-03-26, 2025-06-18, and 2025-11-25.
The current SDK is dual-era, meaning it can serve both types of client without
mixing their wire conventions within a single exchange. With the v2 Client,
mode="legacy" demonstrates the older handshake; auto mode probes discovery.
If following a v1 Python FastMCP tutorial, pin the compatible v1 dependency
line and use that tutorial's matching client API, or intentionally migrate
it. Do not silently upgrade the package to v2 while leaving v1 imports in
place. This lecture's runnable code consistently uses mcp==2.2.0 and MCPServer.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multi round-trip request pattern: a server cannot finish a request
because it needs input. It returns resultType="input_required" with
inputRequests. A compatible client gathers the requested input, then retries
the original operation with inputResponses and any returned requestState.
The retry uses a new JSON-RPC request ID. SDKs can manage this machinery.
The client must advertise the relevant capability; not every host supports
elicitation, and our small fixture does not require it. Users can accept,
decline, or cancel. A server needing a human answer should not invent one.
For a date range, a form is appropriate. For sensitive sign-in or credential
entry, URL mode can direct the user to the service's own secure flow; the
secret must not pass through the model's context. The host should display the
destination and obtain consent, not silently open an arbitrary supplied URL.
This mechanism is distinct from an LLM spontaneously asking a chat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subscriptions/listen pattern is a long-lived request with filters
such as toolsListChanged or resourceSubscriptions. After an acknowledgement,
matching notifications identify the subscription in their metadata. A
notifications/tools/list_changed event tells the client to refresh its cached
catalog; it does not itself include every changed tool definition.
The subscription identifier in metadata is not a top-level JSON-RPC id.
Best-effort delivery means a client should not use notifications as its only
source of critical truth. After reconnecting, re-list or re-read as appropriate.
In older versions, resource subscriptions and the HTTP notification stream
worked differently; consult the versioned specification.
An extension is an optional addition to the core protocol. The Tasks extension
supports durable long-running work rather than making every MCP call a
background job by default. A returned task handle is not permission to read
another user's results. Cancellation does not guarantee that a write has
been undone. The classroom lab does not exercise these features; they are
architectural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students reconcile older articles with current documentation.
Deprecated does not mean every existing implementation has removed the
feature, and the protocol's migration timeline does not tell you what your
installed product supports today.
A root such as file:///C:/mcp-lab communicates an intended working directory.
It does not impose an OS-level restriction on a process. Sampling is a
server-requested model completion through the client; that is different from
the host using its model to decide whether to call search_tasks.
Logging here means the MCP protocol feature, not all application logging.
Dynamic Client Registration is a specific OAuth client-registration mechanism;
its deprecation does not mean OAuth itself is deprecated. A Client ID Metadata
Document publishes client information at an HTTPS URL. For example, an approved
assistant can identify itself with that metadata URL rather than dynamically
creating a client registration. Pre-registration means registering the client
with the authorization service in advance. Read the current authorization
guidance when implementing remote authentication.
The separate legacy HTTP+SSE transport was deprecated earlier, in 2025-03-26.
Streamable HTTP remains current and may still use SSE to deliver 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retrieval practice exercise rather than asking students to
memorize every wire field. Have them pick a term, explain it without using
the term itself, and give a TaskBoard example.
Then connect the ideas: a host discovers a capability whose input schema
describes a tool; its client invokes that tool through a transport; the result
can ground an answer. Least privilege constrains the permitted operations.
Idempotency belongs to safe operation design, not to the model's confidence.
An SDK reduces repeated protocol work but does not know your project's
authorization rules, privacy requirements, or Definition of Done. Those remain
engineering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and concept pages are approachable starting points; the
specification defines implementation requirements. The current changelog is
especially important because many widely circulated tutorials describe the
older initialize-handshake protocol.
Our current wire examples include per-request metadata, resultType, and cache
policy where required. They should not be silently copied into an older
protocol exchange. Conversely, a server that deliberately supports older
clients is not incorrect merely because it accepts an initialization handshake.
The examples and prose in this lecture are original teaching material informed
by these references, not a replacement for the complete normative specification.
Source URLs, preserved as text in PowerPoint notes:
https://modelcontextprotocol.io/docs/2026-07-28/learn/architecture
https://modelcontextprotocol.io/docs/2026-07-28/learn/server-concepts
https://modelcontextprotocol.io/docs/2026-07-28/learn/client-concepts
https://modelcontextprotocol.io/specification/2026-07-28
https://modelcontextprotocol.io/specification/2026-07-28/changelog
https://modelcontextprotocol.io/specification/2026-07-28/server/tools
https://modelcontextprotocol.io/specification/2025-11-25/basic/lifecycle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support the concrete host setup commands and Python SDK
imports in the lecture. The local lab deliberately avoids depending on a
live third-party account or a public remote MCP endpoint.
VS Code, Copilot CLI, Claude Code, and Codex do not use identical configuration
files. Keep the syntax for the chosen host, inspect its connection status,
and follow its current permission and authentication guidance. A configuration
file being accepted does not prove a server can execute its tools.
Python SDK v1 FastMCP snippets found elsewhere should be treated as a different
release line. The v2.2.0 tag makes this lab's dependency and API references
explicit rather than relying on a moving latest branch.
Source URLs, preserved as text in PowerPoint notes:
https://docs.github.com/en/copilot/concepts/context/mcp
https://code.visualstudio.com/docs/agent-customization/mcp-servers
https://docs.github.com/en/copilot/how-tos/copilot-cli/customize-copilot/add-mcp-servers
https://code.claude.com/docs/en/mcp
https://developers.openai.com/codex/mcp
https://github.com/modelcontextprotocol/python-sdk/tree/v2.2.0
https://pypi.org/project/mcp/2.2.0/
https://github.com/modelcontextprotocol/inspector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further-reading references, not prerequisites for the first lab.
Students building a real remote service should consult the complete transport
and authorization requirements instead of copying only the happy-path examples.
The foundation announcement provides historical context for MCP's open,
vendor-neutral ecosystem. The protocol was introduced by Anthropic in 2024;
it is not exclusive to Claude products.
Return to the course's central principle: the system needs explicit owners,
bounded scope, observable failures, and a Definition of Done. MCP can make
integrations reusable, but responsible operation is still the team's job.
Source URLs, preserved as text in PowerPoint notes:
https://modelcontextprotocol.io/specification/2026-07-28/basic/authorization
https://modelcontextprotocol.io/specification/2026-07-28/basic/transports/stdio
https://modelcontextprotocol.io/specification/2026-07-28/basic/transports/streamable-http
https://modelcontextprotocol.io/specification/2026-07-28/client/elicitation
https://modelcontextprotocol.io/specification/2026-07-28/basic/patterns/subscriptions
https://modelcontextprotocol.io/extensions/tasks/overview
https://modelcontextprotocol.io/specification/2026-07-28/server/utilities/caching
https://modelcontextprotocol.io/specification/2026-07-28/deprecated
https://blog.modelcontextprotocol.io/posts/2025-12-09-mcp-joins-agentic-ai-foundation/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104</Slides>
  <Notes>104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104</vt:i4>
      </vt:variant>
    </vt:vector>
  </HeadingPairs>
  <TitlesOfParts>
    <vt:vector size="10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394 - Project Management, Roles, and MCP</dc:title>
  <dc:subject>Team workflows and a beginner's guide to Model Context Protocol, with worked examples and an optional technical lab.</dc:subject>
  <dc:creator>Created by Marp</dc:creator>
  <cp:lastModifiedBy>Created by Marp</cp:lastModifiedBy>
  <cp:revision>1</cp:revision>
  <dcterms:created xsi:type="dcterms:W3CDTF">2026-09-22T21:24:28Z</dcterms:created>
  <dcterms:modified xsi:type="dcterms:W3CDTF">2026-09-22T21:24:28Z</dcterms:modified>
</cp:coreProperties>
</file>